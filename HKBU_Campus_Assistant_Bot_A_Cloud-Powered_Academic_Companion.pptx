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3" r:id="rId4"/>
    <p:sldId id="261" r:id="rId5"/>
    <p:sldId id="262" r:id="rId6"/>
    <p:sldId id="265" r:id="rId7"/>
    <p:sldId id="268"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46367F-911E-4AA8-BB1F-715A26D2F795}" v="29" dt="2026-04-14T06:57:22.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9" d="100"/>
          <a:sy n="139" d="100"/>
        </p:scale>
        <p:origin x="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550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Welcome to our presentation on the HKBU Campus Assistant Bot. We've developed a cloud-powered academic companion designed to truly enhance the student experience. This project showcases how intelligent automation can transform daily academic tasks. We'll explore its innovative features and the robust cloud architecture that makes it all possible. Let's dive into the overview of what this bot can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The HKBU Campus Assistant Bot is an intelligent chatbot, combining academic support with advanced generative AI. It's built specifically for the HKBU student community, aiming to simplify their academic journey. Our core purpose is clear: to help students query course information, summarize documents, and even generate media. This bot empowers students with a unified, cloud-powered academic assistant, making complex tasks straightforward. Next, we'll look at the smart academic support features that drive this convenience.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With performance in mind, we then moved to cloud deployment and scaling. Our entire system lives on AWS EC2 instances, giving us high availability and reliability. We use Docker and Docker Compose for containerized deployment, which means one-click deployment and consistent environments every time. This setup allows for elastic scaling; we can dynamically add more workers for compute-heavy tasks like video generation. And of course, security is paramount, with API tokens managed securely through environment variables. This robust deployment strategy helps us tackle any challenges head-on.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Now, let's dive into the specific tools that power this system. We've carefully selected a robust technology stack to ensure both performance and future scalability. We built this bot using Python 3.12, leveraging its modern async features for efficient operations. For the chatbot interface, we chose python-telegram-bot, which provides a seamless and asynchronous way to interact with Telegram. And for the brain of our bot, we rely on Azure OpenAI's GPT-4, handling all our complex conversations and document summarization. This foundation allows us to build a truly responsive and intelligent assistant. Let's explore how we optimize its performance.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Building on that robust stack, performance and optimization were key considerations from day one. We designed a non-blocking workflow, so users can keep chatting even while background tasks are processing. This means zero idle waiting for our users. We also implemented strict resource limits using Docker, capping CPU and memory to ensure stability and prevent any single task from hogging resources. Finally, we built in timeout protection for different task types, from quick ChatGPT responses to longer video generations, ensuring a fail-safe design. This careful management leads us directly to how we deploy and scale this solution.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In conclusion, we've successfully created a scalable, cloud-powered solution that truly bridges the gap between academic needs and advanced AI capabilities for the HKBU community. This bot is not just scalable, thanks to its microservices architecture, but it's also incredibly practical, offering real-world utility for students and faculty. We've built an innovative tool, featuring cutting-edge image-to-video integration. This project is complete, and we're proud of the robust and intelligent academic companion we've delivered.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7D7A8-DB73-599E-B1C8-2FEA96759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E569A-7301-8CBF-E70F-BC22D171B726}"/>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4D645072-F73E-75EA-DDA7-2BEBCA89A487}"/>
              </a:ext>
            </a:extLst>
          </p:cNvPr>
          <p:cNvSpPr>
            <a:spLocks noGrp="1"/>
          </p:cNvSpPr>
          <p:nvPr>
            <p:ph type="body" idx="1"/>
          </p:nvPr>
        </p:nvSpPr>
        <p:spPr/>
        <p:txBody>
          <a:bodyPr/>
          <a:lstStyle/>
          <a:p>
            <a:r>
              <a:rPr lang="en-US" dirty="0"/>
              <a:t>Welcome to our presentation on the HKBU Campus Assistant Bot. We've developed a cloud-powered academic companion designed to truly enhance the student experience. This project showcases how intelligent automation can transform daily academic tasks. We'll explore its innovative features and the robust cloud architecture that makes it all possible. Let's dive into the overview of what this bot can do.</a:t>
            </a:r>
          </a:p>
        </p:txBody>
      </p:sp>
      <p:sp>
        <p:nvSpPr>
          <p:cNvPr id="4" name="Slide Number Placeholder 3">
            <a:extLst>
              <a:ext uri="{FF2B5EF4-FFF2-40B4-BE49-F238E27FC236}">
                <a16:creationId xmlns:a16="http://schemas.microsoft.com/office/drawing/2014/main" id="{1495891A-F5E4-8852-917F-AA9E73DF5C4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22863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1064419" y="1413821"/>
            <a:ext cx="7015163" cy="2315831"/>
          </a:xfrm>
          <a:prstGeom prst="rect">
            <a:avLst/>
          </a:prstGeom>
          <a:solidFill>
            <a:srgbClr val="FFFFFF"/>
          </a:solidFill>
          <a:ln w="9144">
            <a:solidFill>
              <a:srgbClr val="111111"/>
            </a:solidFill>
            <a:prstDash val="solid"/>
          </a:ln>
        </p:spPr>
        <p:txBody>
          <a:bodyPr/>
          <a:lstStyle/>
          <a:p>
            <a:endParaRPr lang="zh-CN" altLang="en-US"/>
          </a:p>
        </p:txBody>
      </p:sp>
      <p:sp>
        <p:nvSpPr>
          <p:cNvPr id="5" name="Text 1"/>
          <p:cNvSpPr/>
          <p:nvPr/>
        </p:nvSpPr>
        <p:spPr>
          <a:xfrm>
            <a:off x="1357313" y="2013031"/>
            <a:ext cx="6429375" cy="496226"/>
          </a:xfrm>
          <a:prstGeom prst="rect">
            <a:avLst/>
          </a:prstGeom>
          <a:noFill/>
          <a:ln/>
        </p:spPr>
        <p:txBody>
          <a:bodyPr wrap="square" lIns="0" tIns="0" rIns="0" bIns="0" rtlCol="0" anchor="t">
            <a:spAutoFit/>
          </a:bodyPr>
          <a:lstStyle/>
          <a:p>
            <a:pPr marL="0" indent="0" algn="ctr">
              <a:lnSpc>
                <a:spcPts val="4000"/>
              </a:lnSpc>
              <a:buNone/>
            </a:pPr>
            <a:r>
              <a:rPr lang="en-US" sz="3294" b="1" dirty="0">
                <a:solidFill>
                  <a:srgbClr val="111111"/>
                </a:solidFill>
                <a:latin typeface="Calibri" panose="020F0502020204030204" pitchFamily="34" charset="0"/>
                <a:ea typeface="Calibri" panose="020F0502020204030204" pitchFamily="34" charset="0"/>
                <a:cs typeface="Calibri" panose="020F0502020204030204" pitchFamily="34" charset="0"/>
              </a:rPr>
              <a:t>HKBU CAMPUS ASSISTANT BOT</a:t>
            </a:r>
            <a:endParaRPr lang="en-US" sz="3294"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2"/>
          <p:cNvSpPr/>
          <p:nvPr/>
        </p:nvSpPr>
        <p:spPr>
          <a:xfrm>
            <a:off x="2827131" y="3133148"/>
            <a:ext cx="3489738" cy="269304"/>
          </a:xfrm>
          <a:prstGeom prst="rect">
            <a:avLst/>
          </a:prstGeom>
          <a:noFill/>
          <a:ln/>
        </p:spPr>
        <p:txBody>
          <a:bodyPr wrap="none" lIns="0" tIns="0" rIns="0" bIns="0" rtlCol="0" anchor="t">
            <a:spAutoFit/>
          </a:bodyPr>
          <a:lstStyle/>
          <a:p>
            <a:pPr marL="0" indent="0" algn="ctr">
              <a:lnSpc>
                <a:spcPts val="2200"/>
              </a:lnSpc>
              <a:buNone/>
            </a:pPr>
            <a:r>
              <a:rPr lang="en-US" sz="1704" i="1" dirty="0">
                <a:solidFill>
                  <a:srgbClr val="0085CA"/>
                </a:solidFill>
                <a:latin typeface="Calibri" panose="020F0502020204030204" pitchFamily="34" charset="0"/>
                <a:ea typeface="Calibri" panose="020F0502020204030204" pitchFamily="34" charset="0"/>
                <a:cs typeface="Calibri" panose="020F0502020204030204" pitchFamily="34" charset="0"/>
              </a:rPr>
              <a:t>A Cloud-Powered Academic Companion</a:t>
            </a:r>
            <a:endParaRPr lang="en-US" sz="1704"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3"/>
          <p:cNvSpPr/>
          <p:nvPr/>
        </p:nvSpPr>
        <p:spPr>
          <a:xfrm>
            <a:off x="1935734" y="4442460"/>
            <a:ext cx="5272531" cy="166712"/>
          </a:xfrm>
          <a:prstGeom prst="rect">
            <a:avLst/>
          </a:prstGeom>
          <a:noFill/>
          <a:ln/>
        </p:spPr>
        <p:txBody>
          <a:bodyPr wrap="square" lIns="0" tIns="0" rIns="0" bIns="0" rtlCol="0" anchor="t">
            <a:spAutoFit/>
          </a:bodyPr>
          <a:lstStyle/>
          <a:p>
            <a:pPr marL="0" indent="0" algn="l">
              <a:lnSpc>
                <a:spcPts val="1100"/>
              </a:lnSpc>
              <a:buNone/>
            </a:pPr>
            <a:r>
              <a:rPr lang="en-US" kern="0" spc="2" dirty="0">
                <a:solidFill>
                  <a:srgbClr val="3A3A3A"/>
                </a:solidFill>
                <a:latin typeface="Calibri" panose="020F0502020204030204" pitchFamily="34" charset="0"/>
                <a:ea typeface="Calibri" panose="020F0502020204030204" pitchFamily="34" charset="0"/>
                <a:cs typeface="Calibri" panose="020F0502020204030204" pitchFamily="34" charset="0"/>
              </a:rPr>
              <a:t>COMP7940 CLOUD COMPUTING PROJECT | GROUP H</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20789"/>
            <a:ext cx="9144000" cy="5143500"/>
          </a:xfrm>
          <a:prstGeom prst="rect">
            <a:avLst/>
          </a:prstGeom>
        </p:spPr>
      </p:pic>
      <p:sp>
        <p:nvSpPr>
          <p:cNvPr id="4" name="Text 0"/>
          <p:cNvSpPr/>
          <p:nvPr/>
        </p:nvSpPr>
        <p:spPr>
          <a:xfrm>
            <a:off x="571500" y="713231"/>
            <a:ext cx="2229136" cy="39023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11111"/>
                </a:solidFill>
                <a:latin typeface="Calibri" panose="020F0502020204030204" pitchFamily="34" charset="0"/>
                <a:ea typeface="Calibri" panose="020F0502020204030204" pitchFamily="34" charset="0"/>
                <a:cs typeface="Calibri" panose="020F0502020204030204" pitchFamily="34" charset="0"/>
              </a:rPr>
              <a:t>Project Overview</a:t>
            </a:r>
            <a:endParaRPr lang="en-US" sz="2436" dirty="0">
              <a:latin typeface="Calibri" panose="020F0502020204030204" pitchFamily="34" charset="0"/>
              <a:ea typeface="Calibri" panose="020F0502020204030204" pitchFamily="34" charset="0"/>
              <a:cs typeface="Calibri" panose="020F0502020204030204" pitchFamily="34" charset="0"/>
            </a:endParaRPr>
          </a:p>
        </p:txBody>
      </p:sp>
      <p:sp>
        <p:nvSpPr>
          <p:cNvPr id="5" name="Shape 1"/>
          <p:cNvSpPr/>
          <p:nvPr/>
        </p:nvSpPr>
        <p:spPr>
          <a:xfrm>
            <a:off x="571500" y="1606200"/>
            <a:ext cx="3914775" cy="2486025"/>
          </a:xfrm>
          <a:prstGeom prst="rect">
            <a:avLst/>
          </a:prstGeom>
          <a:solidFill>
            <a:srgbClr val="FFFFFF"/>
          </a:solidFill>
          <a:ln w="9144">
            <a:solidFill>
              <a:srgbClr val="111111"/>
            </a:solidFill>
            <a:prstDash val="solid"/>
          </a:ln>
        </p:spPr>
        <p:txBody>
          <a:bodyPr/>
          <a:lstStyle/>
          <a:p>
            <a:endParaRPr lang="zh-CN" altLang="en-US"/>
          </a:p>
        </p:txBody>
      </p:sp>
      <p:sp>
        <p:nvSpPr>
          <p:cNvPr id="6" name="Text 2"/>
          <p:cNvSpPr/>
          <p:nvPr/>
        </p:nvSpPr>
        <p:spPr>
          <a:xfrm>
            <a:off x="742950" y="1791937"/>
            <a:ext cx="1058175" cy="196849"/>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111111"/>
                </a:solidFill>
                <a:latin typeface="Calibri" panose="020F0502020204030204" pitchFamily="34" charset="0"/>
                <a:ea typeface="Calibri" panose="020F0502020204030204" pitchFamily="34" charset="0"/>
                <a:cs typeface="Calibri" panose="020F0502020204030204" pitchFamily="34" charset="0"/>
              </a:rPr>
              <a:t>CORE F</a:t>
            </a:r>
            <a:r>
              <a:rPr lang="en-US" altLang="zh-CN" sz="1269" dirty="0">
                <a:solidFill>
                  <a:srgbClr val="111111"/>
                </a:solidFill>
                <a:latin typeface="Calibri" panose="020F0502020204030204" pitchFamily="34" charset="0"/>
                <a:ea typeface="Calibri" panose="020F0502020204030204" pitchFamily="34" charset="0"/>
                <a:cs typeface="Calibri" panose="020F0502020204030204" pitchFamily="34" charset="0"/>
              </a:rPr>
              <a:t>EATURE</a:t>
            </a:r>
            <a:r>
              <a:rPr lang="en-US" sz="1269" dirty="0">
                <a:solidFill>
                  <a:srgbClr val="111111"/>
                </a:solidFill>
                <a:latin typeface="Calibri" panose="020F0502020204030204" pitchFamily="34" charset="0"/>
                <a:ea typeface="Calibri" panose="020F0502020204030204" pitchFamily="34" charset="0"/>
                <a:cs typeface="Calibri" panose="020F0502020204030204" pitchFamily="34" charset="0"/>
              </a:rPr>
              <a:t>S</a:t>
            </a:r>
            <a:endParaRPr lang="en-US" sz="1269"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3"/>
          <p:cNvSpPr/>
          <p:nvPr/>
        </p:nvSpPr>
        <p:spPr>
          <a:xfrm>
            <a:off x="742950" y="2133051"/>
            <a:ext cx="41077" cy="137517"/>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4"/>
          <p:cNvSpPr/>
          <p:nvPr/>
        </p:nvSpPr>
        <p:spPr>
          <a:xfrm>
            <a:off x="855464" y="2133051"/>
            <a:ext cx="3762256" cy="141064"/>
          </a:xfrm>
          <a:prstGeom prst="rect">
            <a:avLst/>
          </a:prstGeom>
          <a:noFill/>
          <a:ln/>
        </p:spPr>
        <p:txBody>
          <a:bodyPr wrap="square" lIns="0" tIns="0" rIns="0" bIns="0" rtlCol="0" anchor="t">
            <a:spAutoFit/>
          </a:bodyPr>
          <a:lstStyle/>
          <a:p>
            <a:pPr>
              <a:lnSpc>
                <a:spcPts val="1100"/>
              </a:lnSpc>
            </a:pPr>
            <a:r>
              <a:rPr lang="zh-CN" altLang="en-US" sz="1000" dirty="0">
                <a:solidFill>
                  <a:srgbClr val="3A3A3A"/>
                </a:solidFill>
                <a:latin typeface="Calibri" panose="020F0502020204030204" pitchFamily="34" charset="0"/>
                <a:ea typeface="Inter" pitchFamily="34" charset="-122"/>
                <a:cs typeface="Calibri" panose="020F0502020204030204" pitchFamily="34" charset="0"/>
              </a:rPr>
              <a:t>🤖 </a:t>
            </a:r>
            <a:r>
              <a:rPr lang="en-US" altLang="zh-CN" sz="1000" b="1" dirty="0">
                <a:solidFill>
                  <a:srgbClr val="3A3A3A"/>
                </a:solidFill>
                <a:latin typeface="Calibri" panose="020F0502020204030204" pitchFamily="34" charset="0"/>
                <a:ea typeface="Calibri" panose="020F0502020204030204" pitchFamily="34" charset="0"/>
                <a:cs typeface="Calibri" panose="020F0502020204030204" pitchFamily="34" charset="0"/>
              </a:rPr>
              <a:t>Course Helper</a:t>
            </a:r>
            <a:r>
              <a:rPr lang="en-US" altLang="zh-CN" sz="834" dirty="0">
                <a:solidFill>
                  <a:srgbClr val="3A3A3A"/>
                </a:solidFill>
                <a:latin typeface="Calibri" panose="020F0502020204030204" pitchFamily="34" charset="0"/>
                <a:ea typeface="Calibri" panose="020F0502020204030204" pitchFamily="34" charset="0"/>
                <a:cs typeface="Calibri" panose="020F0502020204030204" pitchFamily="34" charset="0"/>
              </a:rPr>
              <a:t>, Query course info from cloud PostgreSQL database</a:t>
            </a:r>
            <a:endPar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 5"/>
          <p:cNvSpPr/>
          <p:nvPr/>
        </p:nvSpPr>
        <p:spPr>
          <a:xfrm>
            <a:off x="724285" y="2689186"/>
            <a:ext cx="41077" cy="137517"/>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6"/>
          <p:cNvSpPr/>
          <p:nvPr/>
        </p:nvSpPr>
        <p:spPr>
          <a:xfrm>
            <a:off x="855464" y="2683305"/>
            <a:ext cx="3282196" cy="141064"/>
          </a:xfrm>
          <a:prstGeom prst="rect">
            <a:avLst/>
          </a:prstGeom>
          <a:noFill/>
          <a:ln/>
        </p:spPr>
        <p:txBody>
          <a:bodyPr wrap="square" lIns="0" tIns="0" rIns="0" bIns="0" rtlCol="0" anchor="t">
            <a:spAutoFit/>
          </a:bodyPr>
          <a:lstStyle/>
          <a:p>
            <a:pPr>
              <a:lnSpc>
                <a:spcPts val="1100"/>
              </a:lnSpc>
            </a:pPr>
            <a:r>
              <a:rPr lang="zh-CN" altLang="en-US" sz="1000" dirty="0">
                <a:solidFill>
                  <a:srgbClr val="3A3A3A"/>
                </a:solidFill>
                <a:latin typeface="Calibri" panose="020F0502020204030204" pitchFamily="34" charset="0"/>
                <a:cs typeface="Calibri" panose="020F0502020204030204" pitchFamily="34" charset="0"/>
              </a:rPr>
              <a:t>🖼️ </a:t>
            </a:r>
            <a:r>
              <a:rPr lang="en-US" altLang="zh-CN" sz="1000" b="1" dirty="0">
                <a:solidFill>
                  <a:srgbClr val="3A3A3A"/>
                </a:solidFill>
                <a:latin typeface="Calibri" panose="020F0502020204030204" pitchFamily="34" charset="0"/>
                <a:ea typeface="Calibri" panose="020F0502020204030204" pitchFamily="34" charset="0"/>
                <a:cs typeface="Calibri" panose="020F0502020204030204" pitchFamily="34" charset="0"/>
              </a:rPr>
              <a:t>Image-to-Video</a:t>
            </a:r>
            <a:r>
              <a:rPr lang="en-US" altLang="zh-CN" sz="834" dirty="0">
                <a:solidFill>
                  <a:srgbClr val="3A3A3A"/>
                </a:solidFill>
                <a:latin typeface="Calibri" panose="020F0502020204030204" pitchFamily="34" charset="0"/>
                <a:ea typeface="Calibri" panose="020F0502020204030204" pitchFamily="34" charset="0"/>
                <a:cs typeface="Calibri" panose="020F0502020204030204" pitchFamily="34" charset="0"/>
              </a:rPr>
              <a:t>, AI-powered video generation from static images</a:t>
            </a:r>
            <a:endPar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 7"/>
          <p:cNvSpPr/>
          <p:nvPr/>
        </p:nvSpPr>
        <p:spPr>
          <a:xfrm>
            <a:off x="720206" y="3237338"/>
            <a:ext cx="43282" cy="132344"/>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8"/>
          <p:cNvSpPr/>
          <p:nvPr/>
        </p:nvSpPr>
        <p:spPr>
          <a:xfrm>
            <a:off x="855464" y="3233559"/>
            <a:ext cx="3459361" cy="141064"/>
          </a:xfrm>
          <a:prstGeom prst="rect">
            <a:avLst/>
          </a:prstGeom>
          <a:noFill/>
          <a:ln/>
        </p:spPr>
        <p:txBody>
          <a:bodyPr wrap="square" lIns="0" tIns="0" rIns="0" bIns="0" rtlCol="0" anchor="t">
            <a:spAutoFit/>
          </a:bodyPr>
          <a:lstStyle/>
          <a:p>
            <a:pPr>
              <a:lnSpc>
                <a:spcPts val="1100"/>
              </a:lnSpc>
            </a:pPr>
            <a:r>
              <a:rPr lang="zh-CN" altLang="en-US" sz="1000" dirty="0">
                <a:solidFill>
                  <a:srgbClr val="3A3A3A"/>
                </a:solidFill>
                <a:latin typeface="Calibri" panose="020F0502020204030204" pitchFamily="34" charset="0"/>
                <a:cs typeface="Calibri" panose="020F0502020204030204" pitchFamily="34" charset="0"/>
              </a:rPr>
              <a:t>📄 </a:t>
            </a:r>
            <a:r>
              <a:rPr lang="en-US" altLang="zh-CN" sz="1000" b="1" dirty="0">
                <a:solidFill>
                  <a:srgbClr val="3A3A3A"/>
                </a:solidFill>
                <a:latin typeface="Calibri" panose="020F0502020204030204" pitchFamily="34" charset="0"/>
                <a:ea typeface="Calibri" panose="020F0502020204030204" pitchFamily="34" charset="0"/>
                <a:cs typeface="Calibri" panose="020F0502020204030204" pitchFamily="34" charset="0"/>
              </a:rPr>
              <a:t>PDF Analysis</a:t>
            </a:r>
            <a:r>
              <a:rPr lang="en-US" altLang="zh-CN" sz="834" dirty="0">
                <a:solidFill>
                  <a:srgbClr val="3A3A3A"/>
                </a:solidFill>
                <a:latin typeface="Calibri" panose="020F0502020204030204" pitchFamily="34" charset="0"/>
                <a:ea typeface="Calibri" panose="020F0502020204030204" pitchFamily="34" charset="0"/>
                <a:cs typeface="Calibri" panose="020F0502020204030204" pitchFamily="34" charset="0"/>
              </a:rPr>
              <a:t>, Auto-extract &amp; summarize academic documents</a:t>
            </a:r>
            <a:endPar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Shape 9"/>
          <p:cNvSpPr/>
          <p:nvPr/>
        </p:nvSpPr>
        <p:spPr>
          <a:xfrm>
            <a:off x="4657725" y="1606200"/>
            <a:ext cx="3914775" cy="2486025"/>
          </a:xfrm>
          <a:prstGeom prst="rect">
            <a:avLst/>
          </a:prstGeom>
          <a:solidFill>
            <a:srgbClr val="FFFFFF"/>
          </a:solidFill>
          <a:ln w="9144">
            <a:solidFill>
              <a:srgbClr val="111111"/>
            </a:solidFill>
            <a:prstDash val="solid"/>
          </a:ln>
        </p:spPr>
        <p:txBody>
          <a:bodyPr/>
          <a:lstStyle/>
          <a:p>
            <a:endParaRPr lang="zh-CN" altLang="en-US"/>
          </a:p>
        </p:txBody>
      </p:sp>
      <p:sp>
        <p:nvSpPr>
          <p:cNvPr id="14" name="Text 10"/>
          <p:cNvSpPr/>
          <p:nvPr/>
        </p:nvSpPr>
        <p:spPr>
          <a:xfrm>
            <a:off x="4829175" y="1791937"/>
            <a:ext cx="1019703" cy="196849"/>
          </a:xfrm>
          <a:prstGeom prst="rect">
            <a:avLst/>
          </a:prstGeom>
          <a:noFill/>
          <a:ln/>
        </p:spPr>
        <p:txBody>
          <a:bodyPr wrap="none" lIns="0" tIns="0" rIns="0" bIns="0" rtlCol="0" anchor="t">
            <a:spAutoFit/>
          </a:bodyPr>
          <a:lstStyle/>
          <a:p>
            <a:pPr marL="0" indent="0" algn="l">
              <a:lnSpc>
                <a:spcPts val="1600"/>
              </a:lnSpc>
              <a:buNone/>
            </a:pPr>
            <a:r>
              <a:rPr lang="en-US" sz="1269" dirty="0">
                <a:solidFill>
                  <a:srgbClr val="111111"/>
                </a:solidFill>
                <a:latin typeface="Calibri" panose="020F0502020204030204" pitchFamily="34" charset="0"/>
                <a:ea typeface="Calibri" panose="020F0502020204030204" pitchFamily="34" charset="0"/>
                <a:cs typeface="Calibri" panose="020F0502020204030204" pitchFamily="34" charset="0"/>
              </a:rPr>
              <a:t>CORE PURPOSE</a:t>
            </a:r>
            <a:endParaRPr lang="en-US" sz="1269"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1"/>
          <p:cNvSpPr/>
          <p:nvPr/>
        </p:nvSpPr>
        <p:spPr>
          <a:xfrm>
            <a:off x="4829175" y="2224065"/>
            <a:ext cx="43282" cy="132344"/>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12"/>
          <p:cNvSpPr/>
          <p:nvPr/>
        </p:nvSpPr>
        <p:spPr>
          <a:xfrm>
            <a:off x="4927056" y="2243293"/>
            <a:ext cx="2534348" cy="13407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Efficiently query course information from cloud databases.</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3"/>
          <p:cNvSpPr/>
          <p:nvPr/>
        </p:nvSpPr>
        <p:spPr>
          <a:xfrm>
            <a:off x="4829175" y="2623014"/>
            <a:ext cx="43282" cy="132344"/>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4"/>
          <p:cNvSpPr/>
          <p:nvPr/>
        </p:nvSpPr>
        <p:spPr>
          <a:xfrm>
            <a:off x="4924197" y="2625879"/>
            <a:ext cx="2459006" cy="13407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Summarize academic documents (PDFs/Images) via OCR.</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5"/>
          <p:cNvSpPr/>
          <p:nvPr/>
        </p:nvSpPr>
        <p:spPr>
          <a:xfrm>
            <a:off x="4829174" y="2969776"/>
            <a:ext cx="43282" cy="132344"/>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16"/>
          <p:cNvSpPr/>
          <p:nvPr/>
        </p:nvSpPr>
        <p:spPr>
          <a:xfrm>
            <a:off x="4924197" y="2966883"/>
            <a:ext cx="2431756" cy="13407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Generate short videos from static images using cloud AI.</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21" name="Shape 17"/>
          <p:cNvSpPr/>
          <p:nvPr/>
        </p:nvSpPr>
        <p:spPr>
          <a:xfrm>
            <a:off x="4829174" y="3383222"/>
            <a:ext cx="3571875" cy="542925"/>
          </a:xfrm>
          <a:prstGeom prst="rect">
            <a:avLst/>
          </a:prstGeom>
          <a:solidFill>
            <a:srgbClr val="0085CA"/>
          </a:solidFill>
          <a:ln/>
        </p:spPr>
        <p:txBody>
          <a:bodyPr/>
          <a:lstStyle/>
          <a:p>
            <a:endParaRPr lang="zh-CN" altLang="en-US"/>
          </a:p>
        </p:txBody>
      </p:sp>
      <p:sp>
        <p:nvSpPr>
          <p:cNvPr id="22" name="Text 18"/>
          <p:cNvSpPr/>
          <p:nvPr/>
        </p:nvSpPr>
        <p:spPr>
          <a:xfrm>
            <a:off x="4872457" y="3362262"/>
            <a:ext cx="3571875" cy="505138"/>
          </a:xfrm>
          <a:prstGeom prst="rect">
            <a:avLst/>
          </a:prstGeom>
          <a:noFill/>
          <a:ln/>
        </p:spPr>
        <p:txBody>
          <a:bodyPr wrap="square" lIns="136017" tIns="102108" rIns="136017" bIns="0" rtlCol="0" anchor="t">
            <a:spAutoFit/>
          </a:bodyPr>
          <a:lstStyle/>
          <a:p>
            <a:pPr marL="0" indent="0" algn="l">
              <a:lnSpc>
                <a:spcPts val="1600"/>
              </a:lnSpc>
              <a:buNone/>
            </a:pPr>
            <a:r>
              <a:rPr lang="en-US" sz="1269" i="1" dirty="0">
                <a:solidFill>
                  <a:srgbClr val="FFFFFF"/>
                </a:solidFill>
                <a:latin typeface="Calibri" panose="020F0502020204030204" pitchFamily="34" charset="0"/>
                <a:ea typeface="Calibri" panose="020F0502020204030204" pitchFamily="34" charset="0"/>
                <a:cs typeface="Calibri" panose="020F0502020204030204" pitchFamily="34" charset="0"/>
              </a:rPr>
              <a:t>"Empowering students with a unified, cloud-powered academic assistant."</a:t>
            </a:r>
            <a:endParaRPr lang="en-US" sz="1269"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69446BCA-D1C5-31AE-680C-312A92064154}"/>
              </a:ext>
            </a:extLst>
          </p:cNvPr>
          <p:cNvPicPr>
            <a:picLocks noChangeAspect="1"/>
          </p:cNvPicPr>
          <p:nvPr/>
        </p:nvPicPr>
        <p:blipFill>
          <a:blip r:embed="rId3"/>
          <a:stretch>
            <a:fillRect/>
          </a:stretch>
        </p:blipFill>
        <p:spPr>
          <a:xfrm>
            <a:off x="323850" y="779852"/>
            <a:ext cx="8378190" cy="35837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713231"/>
            <a:ext cx="3236463" cy="39023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11111"/>
                </a:solidFill>
                <a:latin typeface="Calibri" panose="020F0502020204030204" pitchFamily="34" charset="0"/>
                <a:ea typeface="Calibri" panose="020F0502020204030204" pitchFamily="34" charset="0"/>
                <a:cs typeface="Calibri" panose="020F0502020204030204" pitchFamily="34" charset="0"/>
              </a:rPr>
              <a:t>Robust Technology Stack</a:t>
            </a:r>
            <a:endParaRPr lang="en-US" sz="2436" dirty="0">
              <a:latin typeface="Calibri" panose="020F0502020204030204" pitchFamily="34" charset="0"/>
              <a:ea typeface="Calibri" panose="020F0502020204030204" pitchFamily="34" charset="0"/>
              <a:cs typeface="Calibri" panose="020F0502020204030204" pitchFamily="34" charset="0"/>
            </a:endParaRPr>
          </a:p>
        </p:txBody>
      </p:sp>
      <p:sp>
        <p:nvSpPr>
          <p:cNvPr id="5" name="Shape 1"/>
          <p:cNvSpPr/>
          <p:nvPr/>
        </p:nvSpPr>
        <p:spPr>
          <a:xfrm>
            <a:off x="571500" y="1406175"/>
            <a:ext cx="8001000" cy="2076165"/>
          </a:xfrm>
          <a:prstGeom prst="rect">
            <a:avLst/>
          </a:prstGeom>
          <a:solidFill>
            <a:srgbClr val="FFFFFF"/>
          </a:solidFill>
          <a:ln w="9144">
            <a:solidFill>
              <a:srgbClr val="111111"/>
            </a:solidFill>
            <a:prstDash val="solid"/>
          </a:ln>
        </p:spPr>
        <p:txBody>
          <a:bodyPr/>
          <a:lstStyle/>
          <a:p>
            <a:endParaRPr lang="zh-CN" altLang="en-US"/>
          </a:p>
        </p:txBody>
      </p:sp>
      <p:sp>
        <p:nvSpPr>
          <p:cNvPr id="6" name="Shape 2"/>
          <p:cNvSpPr/>
          <p:nvPr/>
        </p:nvSpPr>
        <p:spPr>
          <a:xfrm>
            <a:off x="571500" y="1406175"/>
            <a:ext cx="2071688" cy="291108"/>
          </a:xfrm>
          <a:prstGeom prst="rect">
            <a:avLst/>
          </a:prstGeom>
          <a:solidFill>
            <a:srgbClr val="111111"/>
          </a:solidFill>
          <a:ln/>
        </p:spPr>
        <p:txBody>
          <a:bodyPr/>
          <a:lstStyle/>
          <a:p>
            <a:endParaRPr lang="zh-CN" altLang="en-US"/>
          </a:p>
        </p:txBody>
      </p:sp>
      <p:sp>
        <p:nvSpPr>
          <p:cNvPr id="7" name="Text 3"/>
          <p:cNvSpPr/>
          <p:nvPr/>
        </p:nvSpPr>
        <p:spPr>
          <a:xfrm>
            <a:off x="571500" y="1420443"/>
            <a:ext cx="2071688" cy="262572"/>
          </a:xfrm>
          <a:prstGeom prst="rect">
            <a:avLst/>
          </a:prstGeom>
          <a:noFill/>
          <a:ln/>
        </p:spPr>
        <p:txBody>
          <a:bodyPr wrap="square" lIns="170053" tIns="85090" rIns="170053" bIns="8509" rtlCol="0" anchor="ctr">
            <a:spAutoFit/>
          </a:bodyPr>
          <a:lstStyle/>
          <a:p>
            <a:pPr marL="0" indent="0" algn="l">
              <a:lnSpc>
                <a:spcPts val="1400"/>
              </a:lnSpc>
              <a:buNone/>
            </a:pPr>
            <a:r>
              <a:rPr lang="en-US" sz="987" b="1" dirty="0">
                <a:solidFill>
                  <a:srgbClr val="FFFFFF"/>
                </a:solidFill>
                <a:latin typeface="Calibri" panose="020F0502020204030204" pitchFamily="34" charset="0"/>
                <a:ea typeface="Calibri" panose="020F0502020204030204" pitchFamily="34" charset="0"/>
                <a:cs typeface="Calibri" panose="020F0502020204030204" pitchFamily="34" charset="0"/>
              </a:rPr>
              <a:t>CATEGORY</a:t>
            </a:r>
            <a:endParaRPr lang="en-US" sz="987" dirty="0">
              <a:latin typeface="Calibri" panose="020F0502020204030204" pitchFamily="34" charset="0"/>
              <a:ea typeface="Calibri" panose="020F0502020204030204" pitchFamily="34" charset="0"/>
              <a:cs typeface="Calibri" panose="020F0502020204030204" pitchFamily="34" charset="0"/>
            </a:endParaRPr>
          </a:p>
        </p:txBody>
      </p:sp>
      <p:sp>
        <p:nvSpPr>
          <p:cNvPr id="8" name="Shape 4"/>
          <p:cNvSpPr/>
          <p:nvPr/>
        </p:nvSpPr>
        <p:spPr>
          <a:xfrm>
            <a:off x="2643188" y="1406175"/>
            <a:ext cx="2428875" cy="291108"/>
          </a:xfrm>
          <a:prstGeom prst="rect">
            <a:avLst/>
          </a:prstGeom>
          <a:solidFill>
            <a:srgbClr val="111111"/>
          </a:solidFill>
          <a:ln/>
        </p:spPr>
        <p:txBody>
          <a:bodyPr/>
          <a:lstStyle/>
          <a:p>
            <a:endParaRPr lang="zh-CN" altLang="en-US"/>
          </a:p>
        </p:txBody>
      </p:sp>
      <p:sp>
        <p:nvSpPr>
          <p:cNvPr id="9" name="Text 5"/>
          <p:cNvSpPr/>
          <p:nvPr/>
        </p:nvSpPr>
        <p:spPr>
          <a:xfrm>
            <a:off x="2643188" y="1420443"/>
            <a:ext cx="2428875" cy="262572"/>
          </a:xfrm>
          <a:prstGeom prst="rect">
            <a:avLst/>
          </a:prstGeom>
          <a:noFill/>
          <a:ln/>
        </p:spPr>
        <p:txBody>
          <a:bodyPr wrap="square" lIns="170053" tIns="85090" rIns="170053" bIns="8509" rtlCol="0" anchor="ctr">
            <a:spAutoFit/>
          </a:bodyPr>
          <a:lstStyle/>
          <a:p>
            <a:pPr marL="0" indent="0" algn="l">
              <a:lnSpc>
                <a:spcPts val="1400"/>
              </a:lnSpc>
              <a:buNone/>
            </a:pPr>
            <a:r>
              <a:rPr lang="en-US" sz="987" b="1" dirty="0">
                <a:solidFill>
                  <a:srgbClr val="FFFFFF"/>
                </a:solidFill>
                <a:latin typeface="Calibri" panose="020F0502020204030204" pitchFamily="34" charset="0"/>
                <a:ea typeface="Calibri" panose="020F0502020204030204" pitchFamily="34" charset="0"/>
                <a:cs typeface="Calibri" panose="020F0502020204030204" pitchFamily="34" charset="0"/>
              </a:rPr>
              <a:t>TECHNOLOGY</a:t>
            </a:r>
            <a:endParaRPr lang="en-US" sz="987"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6"/>
          <p:cNvSpPr/>
          <p:nvPr/>
        </p:nvSpPr>
        <p:spPr>
          <a:xfrm>
            <a:off x="5072063" y="1406175"/>
            <a:ext cx="3500438" cy="291108"/>
          </a:xfrm>
          <a:prstGeom prst="rect">
            <a:avLst/>
          </a:prstGeom>
          <a:solidFill>
            <a:srgbClr val="111111"/>
          </a:solidFill>
          <a:ln/>
        </p:spPr>
        <p:txBody>
          <a:bodyPr/>
          <a:lstStyle/>
          <a:p>
            <a:endParaRPr lang="zh-CN" altLang="en-US"/>
          </a:p>
        </p:txBody>
      </p:sp>
      <p:sp>
        <p:nvSpPr>
          <p:cNvPr id="11" name="Text 7"/>
          <p:cNvSpPr/>
          <p:nvPr/>
        </p:nvSpPr>
        <p:spPr>
          <a:xfrm>
            <a:off x="5072063" y="1420443"/>
            <a:ext cx="3500438" cy="262572"/>
          </a:xfrm>
          <a:prstGeom prst="rect">
            <a:avLst/>
          </a:prstGeom>
          <a:noFill/>
          <a:ln/>
        </p:spPr>
        <p:txBody>
          <a:bodyPr wrap="square" lIns="170053" tIns="85090" rIns="170053" bIns="8509" rtlCol="0" anchor="ctr">
            <a:spAutoFit/>
          </a:bodyPr>
          <a:lstStyle/>
          <a:p>
            <a:pPr marL="0" indent="0" algn="l">
              <a:lnSpc>
                <a:spcPts val="1400"/>
              </a:lnSpc>
              <a:buNone/>
            </a:pPr>
            <a:r>
              <a:rPr lang="en-US" sz="987" b="1" dirty="0">
                <a:solidFill>
                  <a:srgbClr val="FFFFFF"/>
                </a:solidFill>
                <a:latin typeface="Calibri" panose="020F0502020204030204" pitchFamily="34" charset="0"/>
                <a:ea typeface="Calibri" panose="020F0502020204030204" pitchFamily="34" charset="0"/>
                <a:cs typeface="Calibri" panose="020F0502020204030204" pitchFamily="34" charset="0"/>
              </a:rPr>
              <a:t>DESCRIPTION</a:t>
            </a:r>
            <a:endParaRPr lang="en-US" sz="987"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8"/>
          <p:cNvSpPr/>
          <p:nvPr/>
        </p:nvSpPr>
        <p:spPr>
          <a:xfrm>
            <a:off x="571500" y="1713969"/>
            <a:ext cx="2071688"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rPr>
              <a:t>Language</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9"/>
          <p:cNvSpPr/>
          <p:nvPr/>
        </p:nvSpPr>
        <p:spPr>
          <a:xfrm>
            <a:off x="2643188" y="1713969"/>
            <a:ext cx="2428875"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rPr>
              <a:t>Python 3.12</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0"/>
          <p:cNvSpPr/>
          <p:nvPr/>
        </p:nvSpPr>
        <p:spPr>
          <a:xfrm>
            <a:off x="5072063" y="1713007"/>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Modern async features for efficient I/O.</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1"/>
          <p:cNvSpPr/>
          <p:nvPr/>
        </p:nvSpPr>
        <p:spPr>
          <a:xfrm>
            <a:off x="571500" y="1989004"/>
            <a:ext cx="2071688"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rPr>
              <a:t>Bot Framework</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12"/>
          <p:cNvSpPr/>
          <p:nvPr/>
        </p:nvSpPr>
        <p:spPr>
          <a:xfrm>
            <a:off x="2643188" y="1989004"/>
            <a:ext cx="2428875"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rPr>
              <a:t>python-telegram-bot</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3"/>
          <p:cNvSpPr/>
          <p:nvPr/>
        </p:nvSpPr>
        <p:spPr>
          <a:xfrm>
            <a:off x="5072063" y="1988042"/>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Asynchronous framework for Telegram.</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4"/>
          <p:cNvSpPr/>
          <p:nvPr/>
        </p:nvSpPr>
        <p:spPr>
          <a:xfrm>
            <a:off x="571500" y="2265824"/>
            <a:ext cx="2071688"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rPr>
              <a:t>LLM API</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5"/>
          <p:cNvSpPr/>
          <p:nvPr/>
        </p:nvSpPr>
        <p:spPr>
          <a:xfrm>
            <a:off x="2643188" y="2265824"/>
            <a:ext cx="2538412" cy="239874"/>
          </a:xfrm>
          <a:prstGeom prst="rect">
            <a:avLst/>
          </a:prstGeom>
          <a:noFill/>
          <a:ln/>
        </p:spPr>
        <p:txBody>
          <a:bodyPr wrap="square" lIns="170053" tIns="85090" rIns="170053" bIns="8509" rtlCol="0" anchor="ctr">
            <a:spAutoFit/>
          </a:bodyPr>
          <a:lstStyle/>
          <a:p>
            <a:pPr>
              <a:lnSpc>
                <a:spcPts val="1200"/>
              </a:lnSpc>
            </a:pPr>
            <a:r>
              <a:rPr lang="en-US" altLang="zh-CN" sz="885" b="1" dirty="0">
                <a:solidFill>
                  <a:srgbClr val="111111"/>
                </a:solidFill>
                <a:latin typeface="Calibri" panose="020F0502020204030204" pitchFamily="34" charset="0"/>
                <a:ea typeface="Calibri" panose="020F0502020204030204" pitchFamily="34" charset="0"/>
                <a:cs typeface="Calibri" panose="020F0502020204030204" pitchFamily="34" charset="0"/>
              </a:rPr>
              <a:t>HKBU GENAI (GPT-5) + Azure OpenAI (GPT-4)</a:t>
            </a:r>
            <a:endPar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Text 16"/>
          <p:cNvSpPr/>
          <p:nvPr/>
        </p:nvSpPr>
        <p:spPr>
          <a:xfrm>
            <a:off x="5072063" y="2264862"/>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Conversation and document summarization.</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7"/>
          <p:cNvSpPr/>
          <p:nvPr/>
        </p:nvSpPr>
        <p:spPr>
          <a:xfrm>
            <a:off x="571500" y="2542645"/>
            <a:ext cx="2071688" cy="239874"/>
          </a:xfrm>
          <a:prstGeom prst="rect">
            <a:avLst/>
          </a:prstGeom>
          <a:noFill/>
          <a:ln/>
        </p:spPr>
        <p:txBody>
          <a:bodyPr wrap="square" lIns="170053" tIns="85090" rIns="170053" bIns="8509" rtlCol="0" anchor="ctr">
            <a:spAutoFit/>
          </a:bodyPr>
          <a:lstStyle/>
          <a:p>
            <a:pPr>
              <a:lnSpc>
                <a:spcPts val="1200"/>
              </a:lnSpc>
            </a:pPr>
            <a:r>
              <a:rPr lang="en-US" altLang="zh-CN" sz="885" b="1" dirty="0">
                <a:solidFill>
                  <a:srgbClr val="43B02A"/>
                </a:solidFill>
                <a:latin typeface="Calibri" panose="020F0502020204030204" pitchFamily="34" charset="0"/>
                <a:ea typeface="Calibri" panose="020F0502020204030204" pitchFamily="34" charset="0"/>
                <a:cs typeface="Calibri" panose="020F0502020204030204" pitchFamily="34" charset="0"/>
              </a:rPr>
              <a:t>Video Generation</a:t>
            </a:r>
            <a:endPar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Text 18"/>
          <p:cNvSpPr/>
          <p:nvPr/>
        </p:nvSpPr>
        <p:spPr>
          <a:xfrm>
            <a:off x="2643188" y="2542645"/>
            <a:ext cx="2428875" cy="239874"/>
          </a:xfrm>
          <a:prstGeom prst="rect">
            <a:avLst/>
          </a:prstGeom>
          <a:noFill/>
          <a:ln/>
        </p:spPr>
        <p:txBody>
          <a:bodyPr wrap="square" lIns="170053" tIns="85090" rIns="170053" bIns="8509" rtlCol="0" anchor="ctr">
            <a:spAutoFit/>
          </a:bodyPr>
          <a:lstStyle/>
          <a:p>
            <a:pPr>
              <a:lnSpc>
                <a:spcPts val="1200"/>
              </a:lnSpc>
            </a:pPr>
            <a:r>
              <a:rPr lang="en-US" altLang="zh-CN" sz="885" b="1" dirty="0">
                <a:solidFill>
                  <a:srgbClr val="111111"/>
                </a:solidFill>
                <a:latin typeface="Calibri" panose="020F0502020204030204" pitchFamily="34" charset="0"/>
                <a:ea typeface="Calibri" panose="020F0502020204030204" pitchFamily="34" charset="0"/>
                <a:cs typeface="Calibri" panose="020F0502020204030204" pitchFamily="34" charset="0"/>
              </a:rPr>
              <a:t>SiliconFlow API</a:t>
            </a:r>
            <a:endPar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Text 19"/>
          <p:cNvSpPr/>
          <p:nvPr/>
        </p:nvSpPr>
        <p:spPr>
          <a:xfrm>
            <a:off x="5072063" y="2541683"/>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Image to</a:t>
            </a:r>
            <a:r>
              <a:rPr lang="en-US" altLang="zh-CN" sz="942" i="1" dirty="0">
                <a:solidFill>
                  <a:srgbClr val="3A3A3A"/>
                </a:solidFill>
                <a:latin typeface="Calibri" panose="020F0502020204030204" pitchFamily="34" charset="0"/>
                <a:ea typeface="Calibri" panose="020F0502020204030204" pitchFamily="34" charset="0"/>
                <a:cs typeface="Calibri" panose="020F0502020204030204" pitchFamily="34" charset="0"/>
              </a:rPr>
              <a:t> video Analysis and generation</a:t>
            </a: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24" name="Text 20"/>
          <p:cNvSpPr/>
          <p:nvPr/>
        </p:nvSpPr>
        <p:spPr>
          <a:xfrm>
            <a:off x="571500" y="2819465"/>
            <a:ext cx="2071688"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rPr>
              <a:t>Database</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 21"/>
          <p:cNvSpPr/>
          <p:nvPr/>
        </p:nvSpPr>
        <p:spPr>
          <a:xfrm>
            <a:off x="2643188" y="2819465"/>
            <a:ext cx="2428875"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rPr>
              <a:t>PostgreSQL (</a:t>
            </a:r>
            <a:r>
              <a:rPr lang="en-US" sz="885" b="1" dirty="0" err="1">
                <a:solidFill>
                  <a:srgbClr val="111111"/>
                </a:solidFill>
                <a:latin typeface="Calibri" panose="020F0502020204030204" pitchFamily="34" charset="0"/>
                <a:ea typeface="Calibri" panose="020F0502020204030204" pitchFamily="34" charset="0"/>
                <a:cs typeface="Calibri" panose="020F0502020204030204" pitchFamily="34" charset="0"/>
              </a:rPr>
              <a:t>asyncpg</a:t>
            </a:r>
            <a:r>
              <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rPr>
              <a:t>) + Redis</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26" name="Text 22"/>
          <p:cNvSpPr/>
          <p:nvPr/>
        </p:nvSpPr>
        <p:spPr>
          <a:xfrm>
            <a:off x="5072063" y="2818503"/>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High-performance async data storage.</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 23"/>
          <p:cNvSpPr/>
          <p:nvPr/>
        </p:nvSpPr>
        <p:spPr>
          <a:xfrm>
            <a:off x="571500" y="3096285"/>
            <a:ext cx="2071688"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43B02A"/>
                </a:solidFill>
                <a:latin typeface="Calibri" panose="020F0502020204030204" pitchFamily="34" charset="0"/>
                <a:ea typeface="Calibri" panose="020F0502020204030204" pitchFamily="34" charset="0"/>
                <a:cs typeface="Calibri" panose="020F0502020204030204" pitchFamily="34" charset="0"/>
              </a:rPr>
              <a:t>Deployment</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 24"/>
          <p:cNvSpPr/>
          <p:nvPr/>
        </p:nvSpPr>
        <p:spPr>
          <a:xfrm>
            <a:off x="2643188" y="3096285"/>
            <a:ext cx="2428875" cy="239874"/>
          </a:xfrm>
          <a:prstGeom prst="rect">
            <a:avLst/>
          </a:prstGeom>
          <a:noFill/>
          <a:ln/>
        </p:spPr>
        <p:txBody>
          <a:bodyPr wrap="square" lIns="170053" tIns="85090" rIns="170053" bIns="8509" rtlCol="0" anchor="ctr">
            <a:spAutoFit/>
          </a:bodyPr>
          <a:lstStyle/>
          <a:p>
            <a:pPr marL="0" indent="0" algn="l">
              <a:lnSpc>
                <a:spcPts val="1200"/>
              </a:lnSpc>
              <a:buNone/>
            </a:pPr>
            <a:r>
              <a:rPr lang="en-US" sz="885" b="1" dirty="0">
                <a:solidFill>
                  <a:srgbClr val="111111"/>
                </a:solidFill>
                <a:latin typeface="Calibri" panose="020F0502020204030204" pitchFamily="34" charset="0"/>
                <a:ea typeface="Calibri" panose="020F0502020204030204" pitchFamily="34" charset="0"/>
                <a:cs typeface="Calibri" panose="020F0502020204030204" pitchFamily="34" charset="0"/>
              </a:rPr>
              <a:t>Docker + AWS EC2</a:t>
            </a:r>
            <a:endParaRPr lang="en-US" sz="885"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 25"/>
          <p:cNvSpPr/>
          <p:nvPr/>
        </p:nvSpPr>
        <p:spPr>
          <a:xfrm>
            <a:off x="5072063" y="3095323"/>
            <a:ext cx="3500438" cy="241797"/>
          </a:xfrm>
          <a:prstGeom prst="rect">
            <a:avLst/>
          </a:prstGeom>
          <a:noFill/>
          <a:ln/>
        </p:spPr>
        <p:txBody>
          <a:bodyPr wrap="square" lIns="170053" tIns="85090" rIns="170053" bIns="8509" rtlCol="0" anchor="ctr">
            <a:spAutoFit/>
          </a:bodyPr>
          <a:lstStyle/>
          <a:p>
            <a:pPr marL="0" indent="0" algn="l">
              <a:lnSpc>
                <a:spcPts val="1200"/>
              </a:lnSpc>
              <a:buNone/>
            </a:pPr>
            <a:r>
              <a:rPr lang="en-US" sz="942" i="1" dirty="0">
                <a:solidFill>
                  <a:srgbClr val="3A3A3A"/>
                </a:solidFill>
                <a:latin typeface="Calibri" panose="020F0502020204030204" pitchFamily="34" charset="0"/>
                <a:ea typeface="Calibri" panose="020F0502020204030204" pitchFamily="34" charset="0"/>
                <a:cs typeface="Calibri" panose="020F0502020204030204" pitchFamily="34" charset="0"/>
              </a:rPr>
              <a:t>Containerization for environment consistency.</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713231"/>
            <a:ext cx="3736600" cy="390235"/>
          </a:xfrm>
          <a:prstGeom prst="rect">
            <a:avLst/>
          </a:prstGeom>
          <a:noFill/>
          <a:ln/>
        </p:spPr>
        <p:txBody>
          <a:bodyPr wrap="none" lIns="0" tIns="0" rIns="0" bIns="0" rtlCol="0" anchor="t">
            <a:spAutoFit/>
          </a:bodyPr>
          <a:lstStyle/>
          <a:p>
            <a:pPr marL="0" indent="0" algn="l">
              <a:lnSpc>
                <a:spcPts val="3200"/>
              </a:lnSpc>
              <a:buNone/>
            </a:pPr>
            <a:r>
              <a:rPr lang="en-US" sz="2436" b="1" dirty="0">
                <a:solidFill>
                  <a:srgbClr val="111111"/>
                </a:solidFill>
                <a:latin typeface="Calibri" panose="020F0502020204030204" pitchFamily="34" charset="0"/>
                <a:ea typeface="Calibri" panose="020F0502020204030204" pitchFamily="34" charset="0"/>
                <a:cs typeface="Calibri" panose="020F0502020204030204" pitchFamily="34" charset="0"/>
              </a:rPr>
              <a:t>Performance &amp; Optimization</a:t>
            </a:r>
            <a:endParaRPr lang="en-US" sz="2436" dirty="0">
              <a:latin typeface="Calibri" panose="020F0502020204030204" pitchFamily="34" charset="0"/>
              <a:ea typeface="Calibri" panose="020F0502020204030204" pitchFamily="34" charset="0"/>
              <a:cs typeface="Calibri" panose="020F0502020204030204" pitchFamily="34" charset="0"/>
            </a:endParaRPr>
          </a:p>
        </p:txBody>
      </p:sp>
      <p:sp>
        <p:nvSpPr>
          <p:cNvPr id="5" name="Shape 1"/>
          <p:cNvSpPr/>
          <p:nvPr/>
        </p:nvSpPr>
        <p:spPr>
          <a:xfrm>
            <a:off x="571500" y="1434750"/>
            <a:ext cx="2552691" cy="2614613"/>
          </a:xfrm>
          <a:prstGeom prst="rect">
            <a:avLst/>
          </a:prstGeom>
          <a:solidFill>
            <a:srgbClr val="FFFFFF"/>
          </a:solidFill>
          <a:ln w="9144">
            <a:solidFill>
              <a:srgbClr val="111111"/>
            </a:solidFill>
            <a:prstDash val="solid"/>
          </a:ln>
        </p:spPr>
        <p:txBody>
          <a:bodyPr/>
          <a:lstStyle/>
          <a:p>
            <a:endParaRPr lang="zh-CN" altLang="en-US"/>
          </a:p>
        </p:txBody>
      </p:sp>
      <p:sp>
        <p:nvSpPr>
          <p:cNvPr id="6" name="Text 2"/>
          <p:cNvSpPr/>
          <p:nvPr/>
        </p:nvSpPr>
        <p:spPr>
          <a:xfrm>
            <a:off x="714375" y="1606200"/>
            <a:ext cx="2266941" cy="238912"/>
          </a:xfrm>
          <a:prstGeom prst="rect">
            <a:avLst/>
          </a:prstGeom>
          <a:noFill/>
          <a:ln/>
        </p:spPr>
        <p:txBody>
          <a:bodyPr wrap="square" lIns="0" tIns="0" rIns="0" bIns="68072" rtlCol="0" anchor="t">
            <a:spAutoFit/>
          </a:bodyPr>
          <a:lstStyle/>
          <a:p>
            <a:pPr marL="0" indent="0" algn="l">
              <a:lnSpc>
                <a:spcPts val="1400"/>
              </a:lnSpc>
              <a:buNone/>
            </a:pPr>
            <a:r>
              <a:rPr lang="en-US" sz="1050" dirty="0">
                <a:solidFill>
                  <a:srgbClr val="111111"/>
                </a:solidFill>
                <a:latin typeface="Calibri" panose="020F0502020204030204" pitchFamily="34" charset="0"/>
                <a:ea typeface="Calibri" panose="020F0502020204030204" pitchFamily="34" charset="0"/>
                <a:cs typeface="Calibri" panose="020F0502020204030204" pitchFamily="34" charset="0"/>
              </a:rPr>
              <a:t>ASYNC WORKFLOW</a:t>
            </a: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3"/>
          <p:cNvSpPr/>
          <p:nvPr/>
        </p:nvSpPr>
        <p:spPr>
          <a:xfrm>
            <a:off x="714375" y="1997320"/>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4"/>
          <p:cNvSpPr/>
          <p:nvPr/>
        </p:nvSpPr>
        <p:spPr>
          <a:xfrm>
            <a:off x="812602" y="1997320"/>
            <a:ext cx="2168714"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Non-blocking processing allows users to continue chatting.</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5"/>
          <p:cNvSpPr/>
          <p:nvPr/>
        </p:nvSpPr>
        <p:spPr>
          <a:xfrm>
            <a:off x="714375" y="2403063"/>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6"/>
          <p:cNvSpPr/>
          <p:nvPr/>
        </p:nvSpPr>
        <p:spPr>
          <a:xfrm>
            <a:off x="812602" y="2403063"/>
            <a:ext cx="2168714"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Connection pooling for HTTP and Database (asyncpg).</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7"/>
          <p:cNvSpPr/>
          <p:nvPr/>
        </p:nvSpPr>
        <p:spPr>
          <a:xfrm>
            <a:off x="714375" y="2808805"/>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8"/>
          <p:cNvSpPr/>
          <p:nvPr/>
        </p:nvSpPr>
        <p:spPr>
          <a:xfrm>
            <a:off x="812602" y="2808805"/>
            <a:ext cx="2168714" cy="320018"/>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Efficient task distribution via Redis message broker.</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9"/>
          <p:cNvSpPr/>
          <p:nvPr/>
        </p:nvSpPr>
        <p:spPr>
          <a:xfrm>
            <a:off x="714375" y="3235979"/>
            <a:ext cx="2266941" cy="205383"/>
          </a:xfrm>
          <a:prstGeom prst="rect">
            <a:avLst/>
          </a:prstGeom>
          <a:solidFill>
            <a:srgbClr val="F0F7FF"/>
          </a:solidFill>
          <a:ln/>
        </p:spPr>
        <p:txBody>
          <a:bodyPr/>
          <a:lstStyle/>
          <a:p>
            <a:endParaRPr lang="zh-CN" altLang="en-US"/>
          </a:p>
        </p:txBody>
      </p:sp>
      <p:sp>
        <p:nvSpPr>
          <p:cNvPr id="14" name="Shape 10"/>
          <p:cNvSpPr/>
          <p:nvPr/>
        </p:nvSpPr>
        <p:spPr>
          <a:xfrm>
            <a:off x="714375" y="3235979"/>
            <a:ext cx="21431" cy="205383"/>
          </a:xfrm>
          <a:prstGeom prst="rect">
            <a:avLst/>
          </a:prstGeom>
          <a:solidFill>
            <a:srgbClr val="0085CA"/>
          </a:solidFill>
          <a:ln/>
        </p:spPr>
        <p:txBody>
          <a:bodyPr/>
          <a:lstStyle/>
          <a:p>
            <a:endParaRPr lang="zh-CN" altLang="en-US"/>
          </a:p>
        </p:txBody>
      </p:sp>
      <p:sp>
        <p:nvSpPr>
          <p:cNvPr id="15" name="Text 11"/>
          <p:cNvSpPr/>
          <p:nvPr/>
        </p:nvSpPr>
        <p:spPr>
          <a:xfrm>
            <a:off x="714375" y="3235979"/>
            <a:ext cx="2266941" cy="179921"/>
          </a:xfrm>
          <a:prstGeom prst="rect">
            <a:avLst/>
          </a:prstGeom>
          <a:noFill/>
          <a:ln/>
        </p:spPr>
        <p:txBody>
          <a:bodyPr wrap="square" lIns="85090" tIns="68072" rIns="85090" bIns="0" rtlCol="0" anchor="t">
            <a:spAutoFit/>
          </a:bodyPr>
          <a:lstStyle/>
          <a:p>
            <a:pPr marL="0" indent="0" algn="l">
              <a:lnSpc>
                <a:spcPts val="900"/>
              </a:lnSpc>
              <a:buNone/>
            </a:pPr>
            <a:r>
              <a:rPr lang="en-US" sz="727" dirty="0">
                <a:solidFill>
                  <a:srgbClr val="0085CA"/>
                </a:solidFill>
                <a:latin typeface="Calibri" panose="020F0502020204030204" pitchFamily="34" charset="0"/>
                <a:ea typeface="Calibri" panose="020F0502020204030204" pitchFamily="34" charset="0"/>
                <a:cs typeface="Calibri" panose="020F0502020204030204" pitchFamily="34" charset="0"/>
              </a:rPr>
              <a:t>ZERO IDLE WAITING</a:t>
            </a:r>
            <a:endParaRPr lang="en-US" sz="727" dirty="0">
              <a:latin typeface="Calibri" panose="020F0502020204030204" pitchFamily="34" charset="0"/>
              <a:ea typeface="Calibri" panose="020F0502020204030204" pitchFamily="34" charset="0"/>
              <a:cs typeface="Calibri" panose="020F0502020204030204" pitchFamily="34" charset="0"/>
            </a:endParaRPr>
          </a:p>
        </p:txBody>
      </p:sp>
      <p:sp>
        <p:nvSpPr>
          <p:cNvPr id="16" name="Shape 12"/>
          <p:cNvSpPr/>
          <p:nvPr/>
        </p:nvSpPr>
        <p:spPr>
          <a:xfrm>
            <a:off x="3295641" y="1434750"/>
            <a:ext cx="2552691" cy="2614613"/>
          </a:xfrm>
          <a:prstGeom prst="rect">
            <a:avLst/>
          </a:prstGeom>
          <a:solidFill>
            <a:srgbClr val="FFFFFF"/>
          </a:solidFill>
          <a:ln w="9144">
            <a:solidFill>
              <a:srgbClr val="111111"/>
            </a:solidFill>
            <a:prstDash val="solid"/>
          </a:ln>
        </p:spPr>
        <p:txBody>
          <a:bodyPr/>
          <a:lstStyle/>
          <a:p>
            <a:endParaRPr lang="zh-CN" altLang="en-US"/>
          </a:p>
        </p:txBody>
      </p:sp>
      <p:sp>
        <p:nvSpPr>
          <p:cNvPr id="17" name="Text 13"/>
          <p:cNvSpPr/>
          <p:nvPr/>
        </p:nvSpPr>
        <p:spPr>
          <a:xfrm>
            <a:off x="3438516" y="1606200"/>
            <a:ext cx="2266941" cy="238912"/>
          </a:xfrm>
          <a:prstGeom prst="rect">
            <a:avLst/>
          </a:prstGeom>
          <a:noFill/>
          <a:ln/>
        </p:spPr>
        <p:txBody>
          <a:bodyPr wrap="square" lIns="0" tIns="0" rIns="0" bIns="68072" rtlCol="0" anchor="t">
            <a:spAutoFit/>
          </a:bodyPr>
          <a:lstStyle/>
          <a:p>
            <a:pPr marL="0" indent="0" algn="l">
              <a:lnSpc>
                <a:spcPts val="1400"/>
              </a:lnSpc>
              <a:buNone/>
            </a:pPr>
            <a:r>
              <a:rPr lang="en-US" sz="1050" dirty="0">
                <a:solidFill>
                  <a:srgbClr val="111111"/>
                </a:solidFill>
                <a:latin typeface="Calibri" panose="020F0502020204030204" pitchFamily="34" charset="0"/>
                <a:ea typeface="Calibri" panose="020F0502020204030204" pitchFamily="34" charset="0"/>
                <a:cs typeface="Calibri" panose="020F0502020204030204" pitchFamily="34" charset="0"/>
              </a:rPr>
              <a:t>RESOURCE LIMITS</a:t>
            </a: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4"/>
          <p:cNvSpPr/>
          <p:nvPr/>
        </p:nvSpPr>
        <p:spPr>
          <a:xfrm>
            <a:off x="3438516" y="1997320"/>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5"/>
          <p:cNvSpPr/>
          <p:nvPr/>
        </p:nvSpPr>
        <p:spPr>
          <a:xfrm>
            <a:off x="3536742" y="1997320"/>
            <a:ext cx="2168714"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CPU limits strictly enforced (0.5 - 2.0 cores).</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16"/>
          <p:cNvSpPr/>
          <p:nvPr/>
        </p:nvSpPr>
        <p:spPr>
          <a:xfrm>
            <a:off x="3438516" y="2403063"/>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7"/>
          <p:cNvSpPr/>
          <p:nvPr/>
        </p:nvSpPr>
        <p:spPr>
          <a:xfrm>
            <a:off x="3536742" y="2403063"/>
            <a:ext cx="2168714"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Memory allocation capped (512MB - 2GB).</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 18"/>
          <p:cNvSpPr/>
          <p:nvPr/>
        </p:nvSpPr>
        <p:spPr>
          <a:xfrm>
            <a:off x="3438516" y="2808805"/>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19"/>
          <p:cNvSpPr/>
          <p:nvPr/>
        </p:nvSpPr>
        <p:spPr>
          <a:xfrm>
            <a:off x="3536742" y="2808805"/>
            <a:ext cx="2168714"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Containerized isolation ensures system stability.</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24" name="Shape 20"/>
          <p:cNvSpPr/>
          <p:nvPr/>
        </p:nvSpPr>
        <p:spPr>
          <a:xfrm>
            <a:off x="3438516" y="3235979"/>
            <a:ext cx="2266941" cy="205383"/>
          </a:xfrm>
          <a:prstGeom prst="rect">
            <a:avLst/>
          </a:prstGeom>
          <a:solidFill>
            <a:srgbClr val="F0F7FF"/>
          </a:solidFill>
          <a:ln/>
        </p:spPr>
        <p:txBody>
          <a:bodyPr/>
          <a:lstStyle/>
          <a:p>
            <a:endParaRPr lang="zh-CN" altLang="en-US"/>
          </a:p>
        </p:txBody>
      </p:sp>
      <p:sp>
        <p:nvSpPr>
          <p:cNvPr id="25" name="Shape 21"/>
          <p:cNvSpPr/>
          <p:nvPr/>
        </p:nvSpPr>
        <p:spPr>
          <a:xfrm>
            <a:off x="3438516" y="3235979"/>
            <a:ext cx="21431" cy="205383"/>
          </a:xfrm>
          <a:prstGeom prst="rect">
            <a:avLst/>
          </a:prstGeom>
          <a:solidFill>
            <a:srgbClr val="0085CA"/>
          </a:solidFill>
          <a:ln/>
        </p:spPr>
        <p:txBody>
          <a:bodyPr/>
          <a:lstStyle/>
          <a:p>
            <a:endParaRPr lang="zh-CN" altLang="en-US"/>
          </a:p>
        </p:txBody>
      </p:sp>
      <p:sp>
        <p:nvSpPr>
          <p:cNvPr id="26" name="Text 22"/>
          <p:cNvSpPr/>
          <p:nvPr/>
        </p:nvSpPr>
        <p:spPr>
          <a:xfrm>
            <a:off x="3438516" y="3235979"/>
            <a:ext cx="2266941" cy="179921"/>
          </a:xfrm>
          <a:prstGeom prst="rect">
            <a:avLst/>
          </a:prstGeom>
          <a:noFill/>
          <a:ln/>
        </p:spPr>
        <p:txBody>
          <a:bodyPr wrap="square" lIns="85090" tIns="68072" rIns="85090" bIns="0" rtlCol="0" anchor="t">
            <a:spAutoFit/>
          </a:bodyPr>
          <a:lstStyle/>
          <a:p>
            <a:pPr marL="0" indent="0" algn="l">
              <a:lnSpc>
                <a:spcPts val="900"/>
              </a:lnSpc>
              <a:buNone/>
            </a:pPr>
            <a:r>
              <a:rPr lang="en-US" sz="727" dirty="0">
                <a:solidFill>
                  <a:srgbClr val="0085CA"/>
                </a:solidFill>
                <a:latin typeface="Calibri" panose="020F0502020204030204" pitchFamily="34" charset="0"/>
                <a:ea typeface="Calibri" panose="020F0502020204030204" pitchFamily="34" charset="0"/>
                <a:cs typeface="Calibri" panose="020F0502020204030204" pitchFamily="34" charset="0"/>
              </a:rPr>
              <a:t>DOCKER MANAGED</a:t>
            </a:r>
            <a:endParaRPr lang="en-US" sz="727" dirty="0">
              <a:latin typeface="Calibri" panose="020F0502020204030204" pitchFamily="34" charset="0"/>
              <a:ea typeface="Calibri" panose="020F0502020204030204" pitchFamily="34" charset="0"/>
              <a:cs typeface="Calibri" panose="020F0502020204030204" pitchFamily="34" charset="0"/>
            </a:endParaRPr>
          </a:p>
        </p:txBody>
      </p:sp>
      <p:sp>
        <p:nvSpPr>
          <p:cNvPr id="27" name="Shape 23"/>
          <p:cNvSpPr/>
          <p:nvPr/>
        </p:nvSpPr>
        <p:spPr>
          <a:xfrm>
            <a:off x="6019781" y="1434750"/>
            <a:ext cx="2552719" cy="2614613"/>
          </a:xfrm>
          <a:prstGeom prst="rect">
            <a:avLst/>
          </a:prstGeom>
          <a:solidFill>
            <a:srgbClr val="FFFFFF"/>
          </a:solidFill>
          <a:ln w="9144">
            <a:solidFill>
              <a:srgbClr val="111111"/>
            </a:solidFill>
            <a:prstDash val="solid"/>
          </a:ln>
        </p:spPr>
        <p:txBody>
          <a:bodyPr/>
          <a:lstStyle/>
          <a:p>
            <a:endParaRPr lang="zh-CN" altLang="en-US"/>
          </a:p>
        </p:txBody>
      </p:sp>
      <p:sp>
        <p:nvSpPr>
          <p:cNvPr id="28" name="Text 24"/>
          <p:cNvSpPr/>
          <p:nvPr/>
        </p:nvSpPr>
        <p:spPr>
          <a:xfrm>
            <a:off x="6162656" y="1606200"/>
            <a:ext cx="2266969" cy="238912"/>
          </a:xfrm>
          <a:prstGeom prst="rect">
            <a:avLst/>
          </a:prstGeom>
          <a:noFill/>
          <a:ln/>
        </p:spPr>
        <p:txBody>
          <a:bodyPr wrap="square" lIns="0" tIns="0" rIns="0" bIns="68072" rtlCol="0" anchor="t">
            <a:spAutoFit/>
          </a:bodyPr>
          <a:lstStyle/>
          <a:p>
            <a:pPr marL="0" indent="0" algn="l">
              <a:lnSpc>
                <a:spcPts val="1400"/>
              </a:lnSpc>
              <a:buNone/>
            </a:pPr>
            <a:r>
              <a:rPr lang="en-US" sz="1050" dirty="0">
                <a:solidFill>
                  <a:srgbClr val="111111"/>
                </a:solidFill>
                <a:latin typeface="Calibri" panose="020F0502020204030204" pitchFamily="34" charset="0"/>
                <a:ea typeface="Calibri" panose="020F0502020204030204" pitchFamily="34" charset="0"/>
                <a:cs typeface="Calibri" panose="020F0502020204030204" pitchFamily="34" charset="0"/>
              </a:rPr>
              <a:t>TIMEOUT PROTECTION</a:t>
            </a: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 25"/>
          <p:cNvSpPr/>
          <p:nvPr/>
        </p:nvSpPr>
        <p:spPr>
          <a:xfrm>
            <a:off x="6162656" y="1997320"/>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30" name="Text 26"/>
          <p:cNvSpPr/>
          <p:nvPr/>
        </p:nvSpPr>
        <p:spPr>
          <a:xfrm>
            <a:off x="6260883" y="1997320"/>
            <a:ext cx="2168742"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ChatGPT API: 60s limit for rapid response.</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31" name="Text 27"/>
          <p:cNvSpPr/>
          <p:nvPr/>
        </p:nvSpPr>
        <p:spPr>
          <a:xfrm>
            <a:off x="6162656" y="2403063"/>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32" name="Text 28"/>
          <p:cNvSpPr/>
          <p:nvPr/>
        </p:nvSpPr>
        <p:spPr>
          <a:xfrm>
            <a:off x="6260883" y="2403063"/>
            <a:ext cx="2168742"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PDF Analysis: 180s for complex documents.</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33" name="Text 29"/>
          <p:cNvSpPr/>
          <p:nvPr/>
        </p:nvSpPr>
        <p:spPr>
          <a:xfrm>
            <a:off x="6162656" y="2808805"/>
            <a:ext cx="43282" cy="151580"/>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43B02A"/>
                </a:solidFill>
                <a:latin typeface="Calibri" panose="020F0502020204030204" pitchFamily="34" charset="0"/>
                <a:ea typeface="Calibri" panose="020F0502020204030204" pitchFamily="34" charset="0"/>
                <a:cs typeface="Calibri" panose="020F0502020204030204" pitchFamily="34" charset="0"/>
              </a:rPr>
              <a:t>/</a:t>
            </a:r>
            <a:endParaRPr lang="en-US" sz="784" dirty="0">
              <a:latin typeface="Calibri" panose="020F0502020204030204" pitchFamily="34" charset="0"/>
              <a:ea typeface="Calibri" panose="020F0502020204030204" pitchFamily="34" charset="0"/>
              <a:cs typeface="Calibri" panose="020F0502020204030204" pitchFamily="34" charset="0"/>
            </a:endParaRPr>
          </a:p>
        </p:txBody>
      </p:sp>
      <p:sp>
        <p:nvSpPr>
          <p:cNvPr id="34" name="Text 30"/>
          <p:cNvSpPr/>
          <p:nvPr/>
        </p:nvSpPr>
        <p:spPr>
          <a:xfrm>
            <a:off x="6260883" y="2808805"/>
            <a:ext cx="2168742" cy="15331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Video Generation: 3000s for heavy compute.</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35" name="Shape 31"/>
          <p:cNvSpPr/>
          <p:nvPr/>
        </p:nvSpPr>
        <p:spPr>
          <a:xfrm>
            <a:off x="6162656" y="3235979"/>
            <a:ext cx="2266969" cy="205383"/>
          </a:xfrm>
          <a:prstGeom prst="rect">
            <a:avLst/>
          </a:prstGeom>
          <a:solidFill>
            <a:srgbClr val="F0F7FF"/>
          </a:solidFill>
          <a:ln/>
        </p:spPr>
        <p:txBody>
          <a:bodyPr/>
          <a:lstStyle/>
          <a:p>
            <a:endParaRPr lang="zh-CN" altLang="en-US"/>
          </a:p>
        </p:txBody>
      </p:sp>
      <p:sp>
        <p:nvSpPr>
          <p:cNvPr id="36" name="Shape 32"/>
          <p:cNvSpPr/>
          <p:nvPr/>
        </p:nvSpPr>
        <p:spPr>
          <a:xfrm>
            <a:off x="6162656" y="3235979"/>
            <a:ext cx="21431" cy="205383"/>
          </a:xfrm>
          <a:prstGeom prst="rect">
            <a:avLst/>
          </a:prstGeom>
          <a:solidFill>
            <a:srgbClr val="0085CA"/>
          </a:solidFill>
          <a:ln/>
        </p:spPr>
        <p:txBody>
          <a:bodyPr/>
          <a:lstStyle/>
          <a:p>
            <a:endParaRPr lang="zh-CN" altLang="en-US"/>
          </a:p>
        </p:txBody>
      </p:sp>
      <p:sp>
        <p:nvSpPr>
          <p:cNvPr id="37" name="Text 33"/>
          <p:cNvSpPr/>
          <p:nvPr/>
        </p:nvSpPr>
        <p:spPr>
          <a:xfrm>
            <a:off x="6162656" y="3235979"/>
            <a:ext cx="2266969" cy="179921"/>
          </a:xfrm>
          <a:prstGeom prst="rect">
            <a:avLst/>
          </a:prstGeom>
          <a:noFill/>
          <a:ln/>
        </p:spPr>
        <p:txBody>
          <a:bodyPr wrap="square" lIns="85090" tIns="68072" rIns="85090" bIns="0" rtlCol="0" anchor="t">
            <a:spAutoFit/>
          </a:bodyPr>
          <a:lstStyle/>
          <a:p>
            <a:pPr marL="0" indent="0" algn="l">
              <a:lnSpc>
                <a:spcPts val="900"/>
              </a:lnSpc>
              <a:buNone/>
            </a:pPr>
            <a:r>
              <a:rPr lang="en-US" sz="727" dirty="0">
                <a:solidFill>
                  <a:srgbClr val="0085CA"/>
                </a:solidFill>
                <a:latin typeface="Calibri" panose="020F0502020204030204" pitchFamily="34" charset="0"/>
                <a:ea typeface="Calibri" panose="020F0502020204030204" pitchFamily="34" charset="0"/>
                <a:cs typeface="Calibri" panose="020F0502020204030204" pitchFamily="34" charset="0"/>
              </a:rPr>
              <a:t>FAIL-SAFE DESIGN</a:t>
            </a:r>
            <a:endParaRPr lang="en-US" sz="727"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921544" y="570663"/>
            <a:ext cx="7300913" cy="4002146"/>
          </a:xfrm>
          <a:prstGeom prst="rect">
            <a:avLst/>
          </a:prstGeom>
          <a:solidFill>
            <a:srgbClr val="FFFFFF"/>
          </a:solidFill>
          <a:ln w="9144">
            <a:solidFill>
              <a:srgbClr val="111111"/>
            </a:solidFill>
            <a:prstDash val="solid"/>
          </a:ln>
        </p:spPr>
        <p:txBody>
          <a:bodyPr/>
          <a:lstStyle/>
          <a:p>
            <a:endParaRPr lang="zh-CN" altLang="en-US"/>
          </a:p>
        </p:txBody>
      </p:sp>
      <p:sp>
        <p:nvSpPr>
          <p:cNvPr id="5" name="Text 1"/>
          <p:cNvSpPr/>
          <p:nvPr/>
        </p:nvSpPr>
        <p:spPr>
          <a:xfrm>
            <a:off x="3707179" y="1291037"/>
            <a:ext cx="1729641" cy="390235"/>
          </a:xfrm>
          <a:prstGeom prst="rect">
            <a:avLst/>
          </a:prstGeom>
          <a:noFill/>
          <a:ln/>
        </p:spPr>
        <p:txBody>
          <a:bodyPr wrap="none" lIns="0" tIns="0" rIns="0" bIns="0" rtlCol="0" anchor="t">
            <a:spAutoFit/>
          </a:bodyPr>
          <a:lstStyle/>
          <a:p>
            <a:pPr marL="0" indent="0" algn="ctr">
              <a:lnSpc>
                <a:spcPts val="3200"/>
              </a:lnSpc>
              <a:buNone/>
            </a:pPr>
            <a:r>
              <a:rPr lang="en-US" sz="2436" b="1" dirty="0">
                <a:solidFill>
                  <a:srgbClr val="111111"/>
                </a:solidFill>
                <a:latin typeface="Calibri" panose="020F0502020204030204" pitchFamily="34" charset="0"/>
                <a:ea typeface="Calibri" panose="020F0502020204030204" pitchFamily="34" charset="0"/>
                <a:cs typeface="Calibri" panose="020F0502020204030204" pitchFamily="34" charset="0"/>
              </a:rPr>
              <a:t>CONCLUSION</a:t>
            </a:r>
            <a:endParaRPr lang="en-US" sz="2436"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2"/>
          <p:cNvSpPr/>
          <p:nvPr/>
        </p:nvSpPr>
        <p:spPr>
          <a:xfrm>
            <a:off x="1357313" y="2098281"/>
            <a:ext cx="6429375" cy="611321"/>
          </a:xfrm>
          <a:prstGeom prst="rect">
            <a:avLst/>
          </a:prstGeom>
          <a:noFill/>
          <a:ln/>
        </p:spPr>
        <p:txBody>
          <a:bodyPr wrap="square" lIns="0" tIns="0" rIns="0" bIns="0" rtlCol="0" anchor="t">
            <a:spAutoFit/>
          </a:bodyPr>
          <a:lstStyle/>
          <a:p>
            <a:pPr marL="0" indent="0" algn="ctr">
              <a:lnSpc>
                <a:spcPts val="2500"/>
              </a:lnSpc>
              <a:buNone/>
            </a:pPr>
            <a:r>
              <a:rPr lang="en-US" sz="1486" dirty="0">
                <a:solidFill>
                  <a:srgbClr val="3A3A3A"/>
                </a:solidFill>
                <a:latin typeface="Calibri" panose="020F0502020204030204" pitchFamily="34" charset="0"/>
                <a:ea typeface="Calibri" panose="020F0502020204030204" pitchFamily="34" charset="0"/>
                <a:cs typeface="Calibri" panose="020F0502020204030204" pitchFamily="34" charset="0"/>
              </a:rPr>
              <a:t>"A scalable, cloud-powered solution successfully bridging the gap between academic needs and advanced AI capabilities for the HKBU community."</a:t>
            </a:r>
            <a:endParaRPr lang="en-US" sz="1486"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3"/>
          <p:cNvSpPr/>
          <p:nvPr/>
        </p:nvSpPr>
        <p:spPr>
          <a:xfrm>
            <a:off x="2184417" y="3494103"/>
            <a:ext cx="488915" cy="147284"/>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85CA"/>
                </a:solidFill>
                <a:latin typeface="Calibri" panose="020F0502020204030204" pitchFamily="34" charset="0"/>
                <a:ea typeface="Calibri" panose="020F0502020204030204" pitchFamily="34" charset="0"/>
                <a:cs typeface="Calibri" panose="020F0502020204030204" pitchFamily="34" charset="0"/>
              </a:rPr>
              <a:t>SCALABLE</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4"/>
          <p:cNvSpPr/>
          <p:nvPr/>
        </p:nvSpPr>
        <p:spPr>
          <a:xfrm>
            <a:off x="1428750" y="3756636"/>
            <a:ext cx="2000250" cy="134076"/>
          </a:xfrm>
          <a:prstGeom prst="rect">
            <a:avLst/>
          </a:prstGeom>
          <a:noFill/>
          <a:ln/>
        </p:spPr>
        <p:txBody>
          <a:bodyPr wrap="square" lIns="0" tIns="0" rIns="0" bIns="0" rtlCol="0" anchor="t">
            <a:spAutoFit/>
          </a:bodyPr>
          <a:lstStyle/>
          <a:p>
            <a:pPr marL="0" indent="0" algn="ctr">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Microservices architecture ready for growth.</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5"/>
          <p:cNvSpPr/>
          <p:nvPr/>
        </p:nvSpPr>
        <p:spPr>
          <a:xfrm>
            <a:off x="4302695" y="3494103"/>
            <a:ext cx="538609" cy="147284"/>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85CA"/>
                </a:solidFill>
                <a:latin typeface="Calibri" panose="020F0502020204030204" pitchFamily="34" charset="0"/>
                <a:ea typeface="Calibri" panose="020F0502020204030204" pitchFamily="34" charset="0"/>
                <a:cs typeface="Calibri" panose="020F0502020204030204" pitchFamily="34" charset="0"/>
              </a:rPr>
              <a:t>PRACTICAL</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6"/>
          <p:cNvSpPr/>
          <p:nvPr/>
        </p:nvSpPr>
        <p:spPr>
          <a:xfrm>
            <a:off x="3571875" y="3756636"/>
            <a:ext cx="2000250" cy="134076"/>
          </a:xfrm>
          <a:prstGeom prst="rect">
            <a:avLst/>
          </a:prstGeom>
          <a:noFill/>
          <a:ln/>
        </p:spPr>
        <p:txBody>
          <a:bodyPr wrap="square" lIns="0" tIns="0" rIns="0" bIns="0" rtlCol="0" anchor="t">
            <a:spAutoFit/>
          </a:bodyPr>
          <a:lstStyle/>
          <a:p>
            <a:pPr marL="0" indent="0" algn="ctr">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Real-world utility for students and faculty.</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7"/>
          <p:cNvSpPr/>
          <p:nvPr/>
        </p:nvSpPr>
        <p:spPr>
          <a:xfrm>
            <a:off x="6402539" y="3494103"/>
            <a:ext cx="625171" cy="147284"/>
          </a:xfrm>
          <a:prstGeom prst="rect">
            <a:avLst/>
          </a:prstGeom>
          <a:noFill/>
          <a:ln/>
        </p:spPr>
        <p:txBody>
          <a:bodyPr wrap="none" lIns="0" tIns="0" rIns="0" bIns="0" rtlCol="0" anchor="t">
            <a:spAutoFit/>
          </a:bodyPr>
          <a:lstStyle/>
          <a:p>
            <a:pPr marL="0" indent="0" algn="ctr">
              <a:lnSpc>
                <a:spcPts val="1200"/>
              </a:lnSpc>
              <a:buNone/>
            </a:pPr>
            <a:r>
              <a:rPr lang="en-US" sz="942" dirty="0">
                <a:solidFill>
                  <a:srgbClr val="0085CA"/>
                </a:solidFill>
                <a:latin typeface="Calibri" panose="020F0502020204030204" pitchFamily="34" charset="0"/>
                <a:ea typeface="Calibri" panose="020F0502020204030204" pitchFamily="34" charset="0"/>
                <a:cs typeface="Calibri" panose="020F0502020204030204" pitchFamily="34" charset="0"/>
              </a:rPr>
              <a:t>INNOVATIVE</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8"/>
          <p:cNvSpPr/>
          <p:nvPr/>
        </p:nvSpPr>
        <p:spPr>
          <a:xfrm>
            <a:off x="5715000" y="3756636"/>
            <a:ext cx="2000250" cy="134076"/>
          </a:xfrm>
          <a:prstGeom prst="rect">
            <a:avLst/>
          </a:prstGeom>
          <a:noFill/>
          <a:ln/>
        </p:spPr>
        <p:txBody>
          <a:bodyPr wrap="square" lIns="0" tIns="0" rIns="0" bIns="0" rtlCol="0" anchor="t">
            <a:spAutoFit/>
          </a:bodyPr>
          <a:lstStyle/>
          <a:p>
            <a:pPr marL="0" indent="0" algn="ctr">
              <a:lnSpc>
                <a:spcPts val="1100"/>
              </a:lnSpc>
              <a:buNone/>
            </a:pPr>
            <a:r>
              <a:rPr lang="en-US" sz="834" dirty="0">
                <a:solidFill>
                  <a:srgbClr val="3A3A3A"/>
                </a:solidFill>
                <a:latin typeface="Calibri" panose="020F0502020204030204" pitchFamily="34" charset="0"/>
                <a:ea typeface="Calibri" panose="020F0502020204030204" pitchFamily="34" charset="0"/>
                <a:cs typeface="Calibri" panose="020F0502020204030204" pitchFamily="34" charset="0"/>
              </a:rPr>
              <a:t>Cutting-edge Image-to-Video integration.</a:t>
            </a:r>
            <a:endParaRPr lang="en-US" sz="834"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9"/>
          <p:cNvSpPr/>
          <p:nvPr/>
        </p:nvSpPr>
        <p:spPr>
          <a:xfrm>
            <a:off x="3686175" y="4317420"/>
            <a:ext cx="1771650" cy="248245"/>
          </a:xfrm>
          <a:prstGeom prst="rect">
            <a:avLst/>
          </a:prstGeom>
          <a:solidFill>
            <a:srgbClr val="43B02A"/>
          </a:solidFill>
          <a:ln/>
        </p:spPr>
        <p:txBody>
          <a:bodyPr/>
          <a:lstStyle/>
          <a:p>
            <a:endParaRPr lang="zh-CN" altLang="en-US"/>
          </a:p>
        </p:txBody>
      </p:sp>
      <p:sp>
        <p:nvSpPr>
          <p:cNvPr id="14" name="Text 10"/>
          <p:cNvSpPr/>
          <p:nvPr/>
        </p:nvSpPr>
        <p:spPr>
          <a:xfrm>
            <a:off x="3686175" y="4317420"/>
            <a:ext cx="1771650" cy="216021"/>
          </a:xfrm>
          <a:prstGeom prst="rect">
            <a:avLst/>
          </a:prstGeom>
          <a:noFill/>
          <a:ln/>
        </p:spPr>
        <p:txBody>
          <a:bodyPr wrap="square" lIns="170053" tIns="68072" rIns="170053" bIns="0" rtlCol="0" anchor="t">
            <a:spAutoFit/>
          </a:bodyPr>
          <a:lstStyle/>
          <a:p>
            <a:pPr marL="0" indent="0" algn="ctr">
              <a:lnSpc>
                <a:spcPts val="1200"/>
              </a:lnSpc>
              <a:buNone/>
            </a:pPr>
            <a:r>
              <a:rPr lang="en-US" sz="942" kern="0" spc="2" dirty="0">
                <a:solidFill>
                  <a:srgbClr val="FFFFFF"/>
                </a:solidFill>
                <a:latin typeface="Calibri" panose="020F0502020204030204" pitchFamily="34" charset="0"/>
                <a:ea typeface="Calibri" panose="020F0502020204030204" pitchFamily="34" charset="0"/>
                <a:cs typeface="Calibri" panose="020F0502020204030204" pitchFamily="34" charset="0"/>
              </a:rPr>
              <a:t>PROJECT COMPLETE</a:t>
            </a:r>
            <a:endParaRPr lang="en-US" sz="942"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6C08B-B254-390B-079C-44D28509BB27}"/>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8B15F831-7D88-06A1-197C-1AFFFF48B16C}"/>
              </a:ext>
            </a:extLst>
          </p:cNvPr>
          <p:cNvPicPr>
            <a:picLocks noChangeAspect="1"/>
          </p:cNvPicPr>
          <p:nvPr/>
        </p:nvPicPr>
        <p:blipFill>
          <a:blip r:embed="rId3"/>
          <a:stretch>
            <a:fillRect/>
          </a:stretch>
        </p:blipFill>
        <p:spPr>
          <a:xfrm>
            <a:off x="0" y="0"/>
            <a:ext cx="9144000" cy="5143500"/>
          </a:xfrm>
          <a:prstGeom prst="rect">
            <a:avLst/>
          </a:prstGeom>
        </p:spPr>
      </p:pic>
      <p:sp>
        <p:nvSpPr>
          <p:cNvPr id="4" name="Shape 0">
            <a:extLst>
              <a:ext uri="{FF2B5EF4-FFF2-40B4-BE49-F238E27FC236}">
                <a16:creationId xmlns:a16="http://schemas.microsoft.com/office/drawing/2014/main" id="{C421B6DD-A198-EB82-C512-E408B664EC02}"/>
              </a:ext>
            </a:extLst>
          </p:cNvPr>
          <p:cNvSpPr/>
          <p:nvPr/>
        </p:nvSpPr>
        <p:spPr>
          <a:xfrm>
            <a:off x="1064417" y="1178750"/>
            <a:ext cx="7015163" cy="2315831"/>
          </a:xfrm>
          <a:prstGeom prst="rect">
            <a:avLst/>
          </a:prstGeom>
          <a:solidFill>
            <a:srgbClr val="FFFFFF"/>
          </a:solidFill>
          <a:ln w="9144">
            <a:solidFill>
              <a:srgbClr val="111111"/>
            </a:solidFill>
            <a:prstDash val="solid"/>
          </a:ln>
        </p:spPr>
        <p:txBody>
          <a:bodyPr/>
          <a:lstStyle/>
          <a:p>
            <a:endParaRPr lang="zh-CN" altLang="en-US"/>
          </a:p>
        </p:txBody>
      </p:sp>
      <p:sp>
        <p:nvSpPr>
          <p:cNvPr id="5" name="Text 1">
            <a:extLst>
              <a:ext uri="{FF2B5EF4-FFF2-40B4-BE49-F238E27FC236}">
                <a16:creationId xmlns:a16="http://schemas.microsoft.com/office/drawing/2014/main" id="{83E8B10F-B5C9-0A66-E052-C250B3F5D038}"/>
              </a:ext>
            </a:extLst>
          </p:cNvPr>
          <p:cNvSpPr/>
          <p:nvPr/>
        </p:nvSpPr>
        <p:spPr>
          <a:xfrm>
            <a:off x="1357313" y="2013031"/>
            <a:ext cx="6429375" cy="533672"/>
          </a:xfrm>
          <a:prstGeom prst="rect">
            <a:avLst/>
          </a:prstGeom>
          <a:noFill/>
          <a:ln/>
        </p:spPr>
        <p:txBody>
          <a:bodyPr wrap="square" lIns="0" tIns="0" rIns="0" bIns="0" rtlCol="0" anchor="t">
            <a:spAutoFit/>
          </a:bodyPr>
          <a:lstStyle/>
          <a:p>
            <a:pPr marL="0" indent="0" algn="ctr">
              <a:lnSpc>
                <a:spcPts val="4000"/>
              </a:lnSpc>
              <a:buNone/>
            </a:pPr>
            <a:r>
              <a:rPr lang="en-US" sz="4400" b="1" dirty="0">
                <a:solidFill>
                  <a:srgbClr val="111111"/>
                </a:solidFill>
                <a:latin typeface="Calibri" panose="020F0502020204030204" pitchFamily="34" charset="0"/>
                <a:ea typeface="Calibri" panose="020F0502020204030204" pitchFamily="34" charset="0"/>
                <a:cs typeface="Calibri" panose="020F0502020204030204" pitchFamily="34" charset="0"/>
              </a:rPr>
              <a:t>D</a:t>
            </a:r>
            <a:r>
              <a:rPr lang="en-US" altLang="zh-CN" sz="4400" b="1" dirty="0">
                <a:solidFill>
                  <a:srgbClr val="111111"/>
                </a:solidFill>
                <a:latin typeface="Calibri" panose="020F0502020204030204" pitchFamily="34" charset="0"/>
                <a:ea typeface="Calibri" panose="020F0502020204030204" pitchFamily="34" charset="0"/>
                <a:cs typeface="Calibri" panose="020F0502020204030204" pitchFamily="34" charset="0"/>
              </a:rPr>
              <a:t>emonstration</a:t>
            </a:r>
            <a:endParaRPr lang="en-US" sz="4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3">
            <a:extLst>
              <a:ext uri="{FF2B5EF4-FFF2-40B4-BE49-F238E27FC236}">
                <a16:creationId xmlns:a16="http://schemas.microsoft.com/office/drawing/2014/main" id="{0684E6E3-5D7C-CE58-0BEB-61DFDE23CBF1}"/>
              </a:ext>
            </a:extLst>
          </p:cNvPr>
          <p:cNvSpPr/>
          <p:nvPr/>
        </p:nvSpPr>
        <p:spPr>
          <a:xfrm>
            <a:off x="1935734" y="4442460"/>
            <a:ext cx="5272531" cy="166712"/>
          </a:xfrm>
          <a:prstGeom prst="rect">
            <a:avLst/>
          </a:prstGeom>
          <a:noFill/>
          <a:ln/>
        </p:spPr>
        <p:txBody>
          <a:bodyPr wrap="square" lIns="0" tIns="0" rIns="0" bIns="0" rtlCol="0" anchor="t">
            <a:spAutoFit/>
          </a:bodyPr>
          <a:lstStyle/>
          <a:p>
            <a:pPr marL="0" indent="0" algn="l">
              <a:lnSpc>
                <a:spcPts val="1100"/>
              </a:lnSpc>
              <a:buNone/>
            </a:pPr>
            <a:r>
              <a:rPr lang="en-US" kern="0" spc="2" dirty="0">
                <a:solidFill>
                  <a:srgbClr val="3A3A3A"/>
                </a:solidFill>
                <a:latin typeface="Calibri" panose="020F0502020204030204" pitchFamily="34" charset="0"/>
                <a:ea typeface="Calibri" panose="020F0502020204030204" pitchFamily="34" charset="0"/>
                <a:cs typeface="Calibri" panose="020F0502020204030204" pitchFamily="34" charset="0"/>
              </a:rPr>
              <a:t>COMP7940 CLOUD COMPUTING PROJECT | GROUP H</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7766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951</Words>
  <Application>Microsoft Office PowerPoint</Application>
  <PresentationFormat>全屏显示(16:9)</PresentationFormat>
  <Paragraphs>91</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wu xizhe</cp:lastModifiedBy>
  <cp:revision>6</cp:revision>
  <dcterms:created xsi:type="dcterms:W3CDTF">2026-04-13T06:27:24Z</dcterms:created>
  <dcterms:modified xsi:type="dcterms:W3CDTF">2026-04-14T09:57:25Z</dcterms:modified>
</cp:coreProperties>
</file>